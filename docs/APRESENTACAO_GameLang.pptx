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48c62e0a84432" /><Relationship Type="http://schemas.openxmlformats.org/officeDocument/2006/relationships/extended-properties" Target="/docProps/app.xml" Id="R2a9b8fac0d4f4125" /><Relationship Type="http://schemas.openxmlformats.org/officeDocument/2006/relationships/officeDocument" Target="/ppt/presentation.xml" Id="R65172947a12b41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42fe0e1e543a2"/>
  </p:sldMasterIdLst>
  <p:notesMasterIdLst>
    <p:notesMasterId xmlns:r="http://schemas.openxmlformats.org/officeDocument/2006/relationships" r:id="Rec77439b77634842"/>
  </p:notesMasterIdLst>
  <p:sldIdLst>
    <p:sldId xmlns:r="http://schemas.openxmlformats.org/officeDocument/2006/relationships" id="256" r:id="R789f3c88e94a4aca"/>
    <p:sldId xmlns:r="http://schemas.openxmlformats.org/officeDocument/2006/relationships" id="257" r:id="R5006a1f61dda4c49"/>
    <p:sldId xmlns:r="http://schemas.openxmlformats.org/officeDocument/2006/relationships" id="258" r:id="Rcab8a05184b742d8"/>
    <p:sldId xmlns:r="http://schemas.openxmlformats.org/officeDocument/2006/relationships" id="259" r:id="Rc274c7898dba4e0a"/>
    <p:sldId xmlns:r="http://schemas.openxmlformats.org/officeDocument/2006/relationships" id="260" r:id="R7c2a0cc2d96c4017"/>
    <p:sldId xmlns:r="http://schemas.openxmlformats.org/officeDocument/2006/relationships" id="261" r:id="Rfda904fc08834273"/>
    <p:sldId xmlns:r="http://schemas.openxmlformats.org/officeDocument/2006/relationships" id="262" r:id="R0ac03028958e4304"/>
    <p:sldId xmlns:r="http://schemas.openxmlformats.org/officeDocument/2006/relationships" id="263" r:id="R18264da4066d4f8f"/>
    <p:sldId xmlns:r="http://schemas.openxmlformats.org/officeDocument/2006/relationships" id="264" r:id="Rcc23ae785d914308"/>
    <p:sldId xmlns:r="http://schemas.openxmlformats.org/officeDocument/2006/relationships" id="265" r:id="Rd8dc0d9cd7e7435e"/>
    <p:sldId xmlns:r="http://schemas.openxmlformats.org/officeDocument/2006/relationships" id="266" r:id="Rd3f1c3baa18d4866"/>
    <p:sldId xmlns:r="http://schemas.openxmlformats.org/officeDocument/2006/relationships" id="267" r:id="Ra2391718483644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51c6e899d94b17" /><Relationship Type="http://schemas.openxmlformats.org/officeDocument/2006/relationships/slideMaster" Target="/ppt/slideMasters/slideMaster1.xml" Id="R35142fe0e1e543a2" /><Relationship Type="http://schemas.openxmlformats.org/officeDocument/2006/relationships/notesMaster" Target="/ppt/notesMasters/notesMaster1.xml" Id="Rec77439b77634842" /><Relationship Type="http://schemas.openxmlformats.org/officeDocument/2006/relationships/presProps" Target="/ppt/presProps.xml" Id="R833596a7f6364931" /><Relationship Type="http://schemas.openxmlformats.org/officeDocument/2006/relationships/tableStyles" Target="/ppt/tableStyles.xml" Id="R38ca062745ae42b5" /><Relationship Type="http://schemas.openxmlformats.org/officeDocument/2006/relationships/slide" Target="/ppt/slides/slide1.xml" Id="R789f3c88e94a4aca" /><Relationship Type="http://schemas.openxmlformats.org/officeDocument/2006/relationships/slide" Target="/ppt/slides/slide2.xml" Id="R5006a1f61dda4c49" /><Relationship Type="http://schemas.openxmlformats.org/officeDocument/2006/relationships/slide" Target="/ppt/slides/slide3.xml" Id="Rcab8a05184b742d8" /><Relationship Type="http://schemas.openxmlformats.org/officeDocument/2006/relationships/slide" Target="/ppt/slides/slide4.xml" Id="Rc274c7898dba4e0a" /><Relationship Type="http://schemas.openxmlformats.org/officeDocument/2006/relationships/slide" Target="/ppt/slides/slide5.xml" Id="R7c2a0cc2d96c4017" /><Relationship Type="http://schemas.openxmlformats.org/officeDocument/2006/relationships/slide" Target="/ppt/slides/slide6.xml" Id="Rfda904fc08834273" /><Relationship Type="http://schemas.openxmlformats.org/officeDocument/2006/relationships/slide" Target="/ppt/slides/slide7.xml" Id="R0ac03028958e4304" /><Relationship Type="http://schemas.openxmlformats.org/officeDocument/2006/relationships/slide" Target="/ppt/slides/slide8.xml" Id="R18264da4066d4f8f" /><Relationship Type="http://schemas.openxmlformats.org/officeDocument/2006/relationships/slide" Target="/ppt/slides/slide9.xml" Id="Rcc23ae785d914308" /><Relationship Type="http://schemas.openxmlformats.org/officeDocument/2006/relationships/slide" Target="/ppt/slides/slide10.xml" Id="Rd8dc0d9cd7e7435e" /><Relationship Type="http://schemas.openxmlformats.org/officeDocument/2006/relationships/slide" Target="/ppt/slides/slide11.xml" Id="Rd3f1c3baa18d4866" /><Relationship Type="http://schemas.openxmlformats.org/officeDocument/2006/relationships/slide" Target="/ppt/slides/slide12.xml" Id="Ra23917184836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36b4b549dc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0a18e20414d80" /><Relationship Type="http://schemas.openxmlformats.org/officeDocument/2006/relationships/notesMaster" Target="/ppt/notesMasters/notesMaster1.xml" Id="Rccaccb404e3a43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ecdebbae294a77" /><Relationship Type="http://schemas.openxmlformats.org/officeDocument/2006/relationships/notesMaster" Target="/ppt/notesMasters/notesMaster1.xml" Id="R755028abd7a5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f605caa4643dd" /><Relationship Type="http://schemas.openxmlformats.org/officeDocument/2006/relationships/notesMaster" Target="/ppt/notesMasters/notesMaster1.xml" Id="R172ea8222ec946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8f6d665ce84803" /><Relationship Type="http://schemas.openxmlformats.org/officeDocument/2006/relationships/notesMaster" Target="/ppt/notesMasters/notesMaster1.xml" Id="Re3d6ab88aa2a4f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40fefad05472a" /><Relationship Type="http://schemas.openxmlformats.org/officeDocument/2006/relationships/notesMaster" Target="/ppt/notesMasters/notesMaster1.xml" Id="R95448f8b783840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e04cd84964cdc" /><Relationship Type="http://schemas.openxmlformats.org/officeDocument/2006/relationships/notesMaster" Target="/ppt/notesMasters/notesMaster1.xml" Id="R673c80a095cc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e5ef4f60c740fb" /><Relationship Type="http://schemas.openxmlformats.org/officeDocument/2006/relationships/notesMaster" Target="/ppt/notesMasters/notesMaster1.xml" Id="R113fb472be72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0e5109c9284b65" /><Relationship Type="http://schemas.openxmlformats.org/officeDocument/2006/relationships/notesMaster" Target="/ppt/notesMasters/notesMaster1.xml" Id="R92bb405aed3648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c2da967a70413f" /><Relationship Type="http://schemas.openxmlformats.org/officeDocument/2006/relationships/notesMaster" Target="/ppt/notesMasters/notesMaster1.xml" Id="R40f283d3217d4e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0ee7a9c1ed4279" /><Relationship Type="http://schemas.openxmlformats.org/officeDocument/2006/relationships/notesMaster" Target="/ppt/notesMasters/notesMaster1.xml" Id="R39e6ed50ee394a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16f2aa4b2a4515" /><Relationship Type="http://schemas.openxmlformats.org/officeDocument/2006/relationships/notesMaster" Target="/ppt/notesMasters/notesMaster1.xml" Id="R01a8871ce4264e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9b6fc62fca4c4e" /><Relationship Type="http://schemas.openxmlformats.org/officeDocument/2006/relationships/notesMaster" Target="/ppt/notesMasters/notesMaster1.xml" Id="Re6f84d17dfbb4f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ef6be385c4c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26d07a11f42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064a3482242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cc8c1e29249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d8730edf440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d783625f44f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BC2698-1FCC-48E4-BBC7-876F73313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FA52F6-9C75-403E-A876-8E1CD1B19F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45F0C5-019E-40FB-99A8-C220D9782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D827E4-933E-442B-B886-A58BAB0F9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009A12-B045-4895-BF09-1125730B5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06FBB0-073C-4A1C-862E-7255584A2D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CEEDE-F4E7-4267-8D85-C592D1A086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9588F2-C153-4352-90CF-8DF592D52B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0CA7A1-F5C7-4329-9411-CE6EF4F99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0F01E0-B306-4AC9-BE27-62A5DA793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c90b065ca4390" /><Relationship Type="http://schemas.openxmlformats.org/officeDocument/2006/relationships/slideLayout" Target="/ppt/slideLayouts/slideLayout1.xml" Id="Rb8d2bfab137e4af8" /><Relationship Type="http://schemas.openxmlformats.org/officeDocument/2006/relationships/slideLayout" Target="/ppt/slideLayouts/slideLayout2.xml" Id="Rd7e069734e30468a" /><Relationship Type="http://schemas.openxmlformats.org/officeDocument/2006/relationships/slideLayout" Target="/ppt/slideLayouts/slideLayout3.xml" Id="Rf46de2b908b34227" /><Relationship Type="http://schemas.openxmlformats.org/officeDocument/2006/relationships/slideLayout" Target="/ppt/slideLayouts/slideLayout4.xml" Id="R7a4725bf287742b0" /><Relationship Type="http://schemas.openxmlformats.org/officeDocument/2006/relationships/slideLayout" Target="/ppt/slideLayouts/slideLayout5.xml" Id="R87c7b48909054e57" /><Relationship Type="http://schemas.openxmlformats.org/officeDocument/2006/relationships/slideLayout" Target="/ppt/slideLayouts/slideLayout6.xml" Id="R18ce05bf5a544d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d2bfab137e4af8"/>
    <p:sldLayoutId xmlns:r="http://schemas.openxmlformats.org/officeDocument/2006/relationships" id="2147483650" r:id="Rd7e069734e30468a"/>
    <p:sldLayoutId xmlns:r="http://schemas.openxmlformats.org/officeDocument/2006/relationships" id="2147483651" r:id="Rf46de2b908b34227"/>
    <p:sldLayoutId xmlns:r="http://schemas.openxmlformats.org/officeDocument/2006/relationships" id="2147483652" r:id="R7a4725bf287742b0"/>
    <p:sldLayoutId xmlns:r="http://schemas.openxmlformats.org/officeDocument/2006/relationships" id="2147483653" r:id="R87c7b48909054e57"/>
    <p:sldLayoutId xmlns:r="http://schemas.openxmlformats.org/officeDocument/2006/relationships" id="2147483654" r:id="R18ce05bf5a544d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1f410bd6e4b06" /><Relationship Type="http://schemas.openxmlformats.org/officeDocument/2006/relationships/notesSlide" Target="/ppt/notesSlides/notesSlide1.xml" Id="Rc554aad0fc2e46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c88ee979d4ee7" /><Relationship Type="http://schemas.openxmlformats.org/officeDocument/2006/relationships/notesSlide" Target="/ppt/notesSlides/notesSlide2.xml" Id="R5f5a6f19c9af46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5dea18c1f4315" /><Relationship Type="http://schemas.openxmlformats.org/officeDocument/2006/relationships/notesSlide" Target="/ppt/notesSlides/notesSlide3.xml" Id="R814defdf0256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c7a2671ff4ad1" /><Relationship Type="http://schemas.openxmlformats.org/officeDocument/2006/relationships/notesSlide" Target="/ppt/notesSlides/notesSlide4.xml" Id="R251429a31106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4f44208ec4b80" /><Relationship Type="http://schemas.openxmlformats.org/officeDocument/2006/relationships/notesSlide" Target="/ppt/notesSlides/notesSlide5.xml" Id="R3855920307be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7ee99f0d74e9f" /><Relationship Type="http://schemas.openxmlformats.org/officeDocument/2006/relationships/notesSlide" Target="/ppt/notesSlides/notesSlide6.xml" Id="Ra16e01e47dfa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a8bbd85e84898" /><Relationship Type="http://schemas.openxmlformats.org/officeDocument/2006/relationships/notesSlide" Target="/ppt/notesSlides/notesSlide7.xml" Id="R049c4897288a4f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46c023e564d89" /><Relationship Type="http://schemas.openxmlformats.org/officeDocument/2006/relationships/notesSlide" Target="/ppt/notesSlides/notesSlide8.xml" Id="R9ab730cf0d4b49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75b3f28544439" /><Relationship Type="http://schemas.openxmlformats.org/officeDocument/2006/relationships/notesSlide" Target="/ppt/notesSlides/notesSlide9.xml" Id="R6df0a5cd535545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3a8e713b34abd" /><Relationship Type="http://schemas.openxmlformats.org/officeDocument/2006/relationships/notesSlide" Target="/ppt/notesSlides/notesSlide10.xml" Id="R2142cde95c76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ebee75454495d" /><Relationship Type="http://schemas.openxmlformats.org/officeDocument/2006/relationships/notesSlide" Target="/ppt/notesSlides/notesSlide11.xml" Id="Raaa2169783544e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12aed57c54f43" /><Relationship Type="http://schemas.openxmlformats.org/officeDocument/2006/relationships/notesSlide" Target="/ppt/notesSlides/notesSlide12.xml" Id="R68c96bb0b10648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99905-0D52-4986-8297-95CE0EF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80E2E-A2E4-4F91-A2F6-7AA02C78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370"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F9EB0-6269-4649-8F2F-D0FE9EC5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8D5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8D5E5"/>
                </a:solidFill>
                <a:latin typeface="Arial"/>
                <a:ea typeface="Arial"/>
                <a:cs typeface="Arial"/>
              </a:rPr>
              <a:t>Compilador completo para regras básicas de jogos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2219E-3348-48A1-B796-B42A3EE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8F3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F3EA"/>
                </a:solidFill>
                <a:latin typeface="Arial"/>
                <a:ea typeface="Arial"/>
                <a:cs typeface="Arial"/>
              </a:rPr>
              <a:t>Lexer  ·  Parser  ·  AST  ·  Semântica  ·  IR  ·  Otimização  · 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92031-2DEE-45B4-BAE1-40799A17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8CB"/>
                </a:solidFill>
                <a:latin typeface="Arial"/>
                <a:ea typeface="Arial"/>
                <a:cs typeface="Arial"/>
              </a:rPr>
              <a:t>Projeto e Implementação de Compiladores  |  UNASP-SP  |  2026/2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0D1C8-6A52-4403-8C74-84C9608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 · João Pedro · Ryan · Lucas · Enzo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75AB0-95F4-49B2-BA64-12C5146D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B8CB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10CF-20A9-495D-9DE9-A8E0E67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B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9221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DE2B6-9FDB-4CC5-812D-7B60B809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PROBLEMA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4C1FB-16D5-403C-805A-C2602E18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Escopo preservado da Entrega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92D45-3D43-429E-BBD6-5923869F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C7FAF-9752-4693-98AE-405EB41E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4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43"/>
          </a:bodyPr>
          <a:lstStyle xmlns:a="http://schemas.openxmlformats.org/drawingml/2006/main">
            <a:def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 GameLang reduz a infraestrutura necessária para descrever comportamentos iniciais de jogos.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8459D-C5AC-4AE7-A551-7B277320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O foco permanece na regra de jogabilidade. O projeto não tenta substituir uma engine gráfica.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F40B-8CA4-410C-9E7A-EDDC512C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02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E7E28-559E-484F-8541-BBA3007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Entidades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13524-3D11-4302-9BD3-D0A281E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escopo global e propriedades numéricas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546B-8BED-48E9-8137-D513707F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BFE07-3A33-4C2E-937E-B8ACC895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0A137-5731-47A3-8500-DF5125C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colisões descritas com when e touches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C0D53-D51A-467B-9FB0-49BD56B5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FCCC0-24ED-45AB-BAC6-37BA8F8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8E7A4-7D85-49E4-A659-4FF1B2F8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dano, cura, movimento, repetição e saída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0FB63-1A16-40F3-94F9-53C6ED2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7C568-A607-48F2-B5EE-710FB86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Destino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DC8B5-E79B-4952-A28A-549E893C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interpretação de referência e Python executável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F4DE1-D9D5-4A03-A83E-F31F114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Fontes: especificação da Entrega 1 e cronograma 2026/2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ACE15-7126-4BB8-9DA0-F98C0113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8AF50-77BB-42C3-AB0D-49CC19E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3699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96BB8-420D-4B75-BEF9-F153978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SINTAXE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CC2A-1B73-4EEB-88A2-9841F87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Exemplo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BB24-B82E-439C-A402-5FF4E82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6DBEE-DED2-48B4-96E5-11A9045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191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652E1-DECF-446B-A6DA-6F397FE1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57340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entity player {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health = 100;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x = 0;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y = 0;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when player touches enemy {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damage player by 10;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print player.health;</a:t>
            </a:r>
          </a:p>
          <a:p xmlns:a="http://schemas.openxmlformats.org/drawingml/2006/main">
            <a:pPr>
              <a:defRPr sz="15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5ADBD-58B8-4BE6-913E-BA5C5F7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LEITURA DIRETA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AA2C9-69E6-4EC5-99E5-16BE61E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3714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entidade declara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 evento nomeia a colisão.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As ações alteram e observam o jogo.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77356-DA26-49DE-B9EC-E0716722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EAF1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A5FD6-795E-4197-BB68-FE089FF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Execução</a:t>
            </a:r>
          </a:p>
          <a:p xmlns:a="http://schemas.openxmlformats.org/drawingml/2006/main">
            <a:pPr>
              <a:defRPr sz="1275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python -m gamelang run arena.gl --touch player,enemy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C2036-3377-44D4-8735-6B6F0D43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97A36-890D-4732-B025-87D96FFB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3585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1FA0A-574C-4B6C-9739-1469AD4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53BB4-4AFB-42CB-AB90-5136984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Pipeline do compilador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4C151-7CA8-4999-892A-8DA14FA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3407F-C6B6-4F16-AB04-EC77604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0210C-F548-4700-A494-36A1FB9A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63CA8-FD5D-495C-BD16-CA9CD16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Fonte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B9FC0-8C03-4012-BFF0-6981F730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.gl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48C1B-8519-457A-8B51-3D85D365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FD661-D59A-46C9-B5F3-6EC2B29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FF293-17F9-4C5D-92C0-44E32EC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Lexer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64679-66A9-43A9-B57B-E16E72CE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90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80929-09E0-4901-B556-0E1794F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CAC28-CDE7-4F64-B13D-1E084BF3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E5F08-6E64-4BFA-840E-FC0ACF0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9350A-3C86-4A5D-84C8-E8021D9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AD692-C83B-41F0-B6DA-E16B1771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1D338-D8AC-45C4-9778-3D3BA33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8F4D2-9CF7-4BCD-82D2-10176345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Semântica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7870A-AE15-49A6-8C26-09EAF60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tipos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F2977-517A-4302-B0F5-2DF7640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A9DE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DB156-4F5E-4FA0-9C8E-70AEA35C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BF5DB-46F8-43BA-BF87-7ED530E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Lowering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E6E64-9FB4-440C-B5D4-73B9C64C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A8952-82BE-49B3-820F-2A173E6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045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A9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70180-F62A-4169-9989-751267A0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7FE5F-20CE-4F06-9776-C196F28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19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Otimização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838CA-2E40-450A-B5A5-46221A5E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IR'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DB9FC-D6BD-4C7B-8A63-58E0D8BE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A9DE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A4F71-B55B-4552-8784-A0AD590E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686F6-D184-4D03-A1DD-1E08CD52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5AFF7-45E9-448C-A253-CE7E0B50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interpretador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8EBF4-AC72-47C7-901D-7C4C572D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A9DE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1A99C-9C4F-47DD-B6C0-C7FDFEFA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B8B954-9037-40EB-A00D-8954699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2F722-F9CA-4337-A7C2-6B46C621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0909E0-C2A5-44C3-8B0E-BF75373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1"/>
          </a:bodyPr>
          <a:lstStyle xmlns:a="http://schemas.openxmlformats.org/drawingml/2006/main">
            <a:def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Cada fase recebe uma estrutura validada pela fase anterior. A posição de origem acompanha tokens, AST e 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E420E8-4EAD-4943-84EB-8100395A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69F3E-B2FE-4D04-8A8B-8CAACEE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11758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CC821-CE93-4480-914F-3B77B5E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LEXER E PARSER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2485E-F440-41EF-8294-9F942A53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Frontend e diagnósticos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680B0-18AF-4584-A042-77DC83B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3DD11-171C-47AE-B888-C94BCB1A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5D75"/>
                </a:solidFill>
                <a:latin typeface="Arial"/>
                <a:ea typeface="Arial"/>
                <a:cs typeface="Arial"/>
              </a:rPr>
              <a:t>ENTRADA INVÁLIDA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0F600-0513-4C05-AE3E-8580B8BC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68F0B-5BA4-41EE-9AA3-7A39525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195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entity player {</a:t>
            </a:r>
          </a:p>
          <a:p xmlns:a="http://schemas.openxmlformats.org/drawingml/2006/main">
            <a: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health = 100</a:t>
            </a:r>
          </a:p>
          <a:p xmlns:a="http://schemas.openxmlformats.org/drawingml/2006/main">
            <a: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x = 0;</a:t>
            </a:r>
          </a:p>
          <a:p xmlns:a="http://schemas.openxmlformats.org/drawingml/2006/main">
            <a:pPr>
              <a:defRPr sz="17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2F017-38EB-4F42-8A57-57D0AA30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14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5D75"/>
                </a:solidFill>
                <a:latin typeface="Arial"/>
                <a:ea typeface="Arial"/>
                <a:cs typeface="Arial"/>
              </a:rPr>
              <a:t>MENSAGEM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BD31D-CD57-44F5-9A0F-B8995C0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5829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F2B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8F682-FE9A-4F89-8DA1-1B465B83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288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8C2340"/>
                </a:solidFill>
                <a:latin typeface="Consolas"/>
                <a:ea typeface="Consolas"/>
                <a:cs typeface="Consolas"/>
              </a:rPr>
              <a:t>arquivo.gl:3:3</a:t>
            </a:r>
          </a:p>
          <a:p xmlns:a="http://schemas.openxmlformats.org/drawingml/2006/main">
            <a: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8C2340"/>
                </a:solidFill>
                <a:latin typeface="Consolas"/>
                <a:ea typeface="Consolas"/>
                <a:cs typeface="Consolas"/>
              </a:rPr>
              <a:t>erro sintático [P001]</a:t>
            </a:r>
          </a:p>
          <a:p xmlns:a="http://schemas.openxmlformats.org/drawingml/2006/main">
            <a:pPr>
              <a:defRPr sz="1575" b="0">
                <a:solidFill>
                  <a:srgbClr val="8C23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8C2340"/>
                </a:solidFill>
                <a:latin typeface="Consolas"/>
                <a:ea typeface="Consolas"/>
                <a:cs typeface="Consolas"/>
              </a:rPr>
              <a:t>esperado ';' após a propriedade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9B144-1001-4184-8105-1685D34C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48100"/>
            <a:ext cx="552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 lexer reconhece comentários, textos, inteiros, reais e operadores. O parser descendente aplica precedência e aponta o token corrente.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8335E-1FD3-463B-BF9C-5D46246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476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EAF1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64032-F9CC-46FF-B1AC-1E458CE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4019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Linha e coluna aparecem em erros léxicos, sintáticos e semânticos.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06C13-9330-4B8D-8DFD-54D2B618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25CC0-5D41-4E72-A74D-DE45028C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3464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75F88-C6D2-485C-B21C-AC0F2287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NOMES, ESCOPOS E TIPOS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4E47D-FADD-4C20-85C2-8EAED44D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Análise semântica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91DCF-51FF-4274-8F53-D28C25F7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E2BEA-A884-4ACB-B8C3-D17D31DC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286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41D85-D71C-4860-80B9-BC46A2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ESCOPO 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892A6-CF8C-49F9-8684-C5C465DF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player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enemy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6CE13-C796-4C4A-BE5E-7A9B7251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14550"/>
            <a:ext cx="38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9695B-B0E4-4BCC-9F57-1DB47442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PLAYER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D4509-67AD-4F34-BA78-5378EEF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39"/>
          </a:bodyPr>
          <a:lstStyle xmlns:a="http://schemas.openxmlformats.org/drawingml/2006/main">
            <a:def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health : inteiro</a:t>
            </a:r>
          </a:p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x      : inteiro</a:t>
            </a:r>
          </a:p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y      : inteiro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756AD-3A3B-4C40-9BDC-DB714683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ENEMY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66992-F251-46BF-B16B-BC78F9D4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152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39"/>
          </a:bodyPr>
          <a:lstStyle xmlns:a="http://schemas.openxmlformats.org/drawingml/2006/main">
            <a:def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health : inteiro</a:t>
            </a:r>
          </a:p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x      : inteiro</a:t>
            </a:r>
          </a:p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y      : inteiro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5C457-27BA-461D-98A2-51A62A17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47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Duplicidade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6193D-3D3B-4502-B4CD-CA716B22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entidades e propriedades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8FF7D-7F3C-4FF0-963D-DE1532B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6B0B3-FF7E-4238-A53E-720CAC21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24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Resolução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C6C52-6C96-4232-AF69-DAD3636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entidade.propriedade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2EFAE-BA52-4C59-87CE-7A77A60D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040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BDBD6-4B98-4685-8483-AFB1D08A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Tipos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7E094-0814-4546-AB75-DE55ECB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número, booleano, texto e posição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D9169-2814-4328-8BDC-6FFC5D6B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7670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F06D1-B5BF-4B1A-B536-E755245A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Domínio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06FFA-AB14-4A1F-A0F4-67D5C64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187"/>
          </a:bodyPr>
          <a:lstStyle xmlns:a="http://schemas.openxmlformats.org/drawingml/2006/main">
            <a:def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health para dano e x/y para movimento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C6A86-ED37-410A-8F24-5D2CC31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5300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4E324-CBAF-463A-91E5-E718DF30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24500"/>
            <a:ext cx="544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>
            <a:def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 geração de código começa somente após todas as validações.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9AF42-8FC6-435A-AD15-77BF494F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C6A8B-3938-4B89-8788-5F6D2EC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7950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6E8F0-74BF-4C2B-8E68-BDB0504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REPRESENTAÇÃO INTERMEDIÁRIA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F281F-C582-41B1-B007-F89AAD12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IR serializável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00CDD-3673-4C37-B0D2-C943EF2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13D50-E502-41A2-8E98-F5D95E6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1912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861BB-3A28-49E7-9108-F0BEE88B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5734050" cy="398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"format": "GameLang-IR",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"version": "1.0",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"instructions": [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  "op": "damage",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  "operands": {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    "entity": "player",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    "amount": {"op": "const", "value": 10}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27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B6F85-C87D-4430-82D8-99FD2E0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PROPRIEDADES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A46AC-5C26-4D38-BA10-8981564E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867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Formato JSON versionado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Posições de origem preservadas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Blocos de repeat e eventos estruturados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Leitura e escrita com roundtrip testado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196F5-65C5-49DC-AF0B-6FABFCB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38671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A9DE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6237A-730F-49EE-AE6E-4B1FA8DA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482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63"/>
          </a:bodyPr>
          <a:lstStyle xmlns:a="http://schemas.openxmlformats.org/drawingml/2006/main">
            <a:def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mesma IR alimenta o interpretador e o backend.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92533-0665-4EC8-8F3F-03917669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C2F46-EFC4-4C61-A784-AE57E80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996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43D18-135A-45B1-B542-5288E86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EXECUÇÃO DE REFERÊNCIA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8459C-2BBE-41E1-891F-5DF10C45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Runtime e interpretador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685F5-F8A9-47FE-92D1-B0B1E30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0FBA-53A7-4D38-A3B5-B821AF9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D49F-4BB5-40EA-89C6-518FD4DF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F3E0E-36D4-4D4E-88EA-6F51A21B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>
            <a:def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66D73-6C22-4113-ACCE-5946D469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player touches enemy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23492-84B4-4FEF-AF61-675591F4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8E13C-8E0B-434E-A500-8ACAF8FB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F853F-43B3-4F09-B064-A2DA5F53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>
            <a:def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1A0C1-225C-4376-9D59-93481459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damage · move · heal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D24D6-B2E0-46A5-99D5-3D77F11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394F7-BACF-4494-8F24-957A6B38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A6408-C3BC-44D0-8B5E-4C3DE42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>
            <a:def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323D8-4E8E-4BB0-8EDF-97DCEEA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health · x · 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615B2-34E0-4E16-AB78-9D240DFF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E1856-733E-4307-BF83-0153F71C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FC3AD-48FE-4C01-855F-864F617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>
            <a:def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11E45-6C93-4369-8E15-E86E0294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texto observável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10ED9-40F4-44FD-A37D-11B208D3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>
            <a:def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 interpretador executa instruções da IR. O runtime mantém entidades, registra eventos e captura a saída para comparação.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2125B-3A4C-42DE-9B9A-E229C82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894FB-CFDA-41CB-A4BD-546AE5F1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689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8F3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8F3EA"/>
                </a:solidFill>
                <a:latin typeface="Consolas"/>
                <a:ea typeface="Consolas"/>
                <a:cs typeface="Consolas"/>
              </a:rPr>
              <a:t>snapshot = { entidades ordenadas, propriedades, saída 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CEF8A-5E41-406C-9AFB-3B279B8F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09C92-5DA6-4989-AD06-3E62DCAB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2036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A3702-3B4C-48E3-B841-698D0FB9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GERAÇÃO DE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FA6EF-30FF-4476-A846-583E0AF3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Backend Python e equivalência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59622-4335-4140-B712-4AE9EB05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1A1C0-92DC-4A15-AB49-83EB527B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404CF-C87A-40A6-B147-B529E06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4767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0AF8F-0EAB-463E-80E9-42DDFDBE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019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repeat 2 {</a:t>
            </a:r>
          </a:p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move player by (3, 1);</a:t>
            </a:r>
          </a:p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print player.x;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E8CB6-155B-4B31-9116-2FEC5DF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24150"/>
            <a:ext cx="64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>
            <a:def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39BE5-C82E-4FB4-9F7F-87CA5B5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PYTHON GERADO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8D743-F0AC-4032-A314-DB44A42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44231-0626-49F6-87BF-7A5B3148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781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for _ in range(2):</a:t>
            </a:r>
          </a:p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  state.move('player', (3, 1))</a:t>
            </a:r>
          </a:p>
          <a:p xmlns:a="http://schemas.openxmlformats.org/drawingml/2006/main">
            <a:pPr>
              <a:defRPr sz="1425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state.emit(state.property('player.x'))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A038D-0DB1-434C-8F1A-7804B626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9067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A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8BB84-95A0-4696-81D4-C7E907E5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861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558"/>
          </a:bodyPr>
          <a:lstStyle xmlns:a="http://schemas.openxmlformats.org/drawingml/2006/main">
            <a:def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Teste automático: snapshot do interpretador = snapshot do Python gerado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3D47B-918A-4F08-B35C-455FF05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0CE03-922D-472D-924E-ED6441F3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6994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A1FC0-D91F-4D8E-8BE3-5229F13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TRANSFORMAÇÕES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BBC2F-320E-4499-8229-E6923E9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Otimizações preservam comportamento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0B3BD-B09D-4E3D-858C-70D26D7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29BB2-B827-44B5-A8CB-4A7DEB4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5D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5D75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79C8F-0323-4681-A370-B562A34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32492-FF99-4AFB-A473-24A4F9D2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495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damage bot by 2 * (3 + 1);</a:t>
            </a:r>
          </a:p>
          <a:p xmlns:a="http://schemas.openxmlformats.org/drawingml/2006/main">
            <a: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heal bot by 0;</a:t>
            </a:r>
          </a:p>
          <a:p xmlns:a="http://schemas.openxmlformats.org/drawingml/2006/main">
            <a: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move bot by (0, 0);</a:t>
            </a:r>
          </a:p>
          <a:p xmlns:a="http://schemas.openxmlformats.org/drawingml/2006/main">
            <a: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repeat 1 {</a:t>
            </a:r>
          </a:p>
          <a:p xmlns:a="http://schemas.openxmlformats.org/drawingml/2006/main">
            <a: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  move bot by (5 + 0, 2 * 1);</a:t>
            </a:r>
          </a:p>
          <a:p xmlns:a="http://schemas.openxmlformats.org/drawingml/2006/main">
            <a:pPr>
              <a:defRPr sz="15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489C9-0499-4D55-BFD3-9246BF9F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8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865F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BB0F7-A07C-4F13-8C3E-0396EF1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334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D9C70-387D-4F35-9D80-4C4A3F02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876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defPPr>
            <a:lvl1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1pPr>
            <a:lvl2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2pPr>
            <a:lvl3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3pPr>
            <a:lvl4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4pPr>
            <a:lvl5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5pPr>
            <a:lvl6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6pPr>
            <a:lvl7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7pPr>
            <a:lvl8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8pPr>
            <a:lvl9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damage bot by 8;</a:t>
            </a:r>
          </a:p>
          <a:p xmlns:a="http://schemas.openxmlformats.org/drawingml/2006/main">
            <a:pPr>
              <a:defRPr sz="1800" b="0">
                <a:solidFill>
                  <a:srgbClr val="DDE8F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DE8F5"/>
                </a:solidFill>
                <a:latin typeface="Consolas"/>
                <a:ea typeface="Consolas"/>
                <a:cs typeface="Consolas"/>
              </a:rPr>
              <a:t>move bot by (5, 2);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74E0D-B49A-4459-9819-2A0EAD03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8257A-4CF8-47BC-A3A8-A8B8D0E2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>
            <a:def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075FF-79CC-4D4E-81FD-BE6D6568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dobramentos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602FC-85BD-4616-87CA-D0D4A1B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5E617-69A8-4648-98C6-C23FE274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>
            <a:def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46074-7C57-48E9-92B6-02B356F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identidades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2C61A-42F0-49F5-9102-03D25A6B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4C8BD-FE58-4A4C-BF61-7CF44D8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766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>
            <a:def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474D6-B9BD-4456-B7F5-38006311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815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91"/>
          </a:bodyPr>
          <a:lstStyle xmlns:a="http://schemas.openxmlformats.org/drawingml/2006/main">
            <a:def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ações removidas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67978-4D16-443E-ADF4-71E3CAF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Estado final do exemplo: health 32, x 5, y 2. A suíte compara a versão original e a otimizada.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206A8-1E19-4991-BA1B-8D7E78E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EC906-92D1-4C80-80C4-84179466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1423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A9790-B117-4ED3-8334-381C087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AC667-B571-4213-A2D8-19F2D72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Critérios de aceite atendidos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55524-312E-4EDF-9327-B0998D1B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6188B-6BAC-4A48-BAD0-E33A1DEF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79A24-5D26-4FDD-BAA8-CE49A8FF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AF9DD-02B4-4696-AC67-2A1D348D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907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programas válidos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9CBB5-28A2-45C8-BCE8-98313036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90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compilação e execução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B6A89-D50A-45F1-B466-438C3EC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71D1-B4E5-49FE-9895-40748B1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26DAA-5482-4414-BAC4-D5968F58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289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programas inválidos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46CC6-E589-48BD-A562-60566B71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linha e coluna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CAF1F-2184-435A-9D83-8AC107B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8B45D-6164-41EE-B925-7F490FD3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029EA-9CF1-4114-8932-BC4450C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testes automatizados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74AA4-6930-44A9-B888-C227740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nenhuma falha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9C5FE-01D8-4797-9C73-874BD09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B6B1C-EFA5-4487-AA5F-466C469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E2162-0770-4802-9E16-A2FFAE8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053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rotas de execução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9E94B-1A5E-46BC-B060-30695297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equivalência verificada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57F7E-C21C-48BB-AFE2-E51F511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C7F98-1886-4DF0-A89C-D84F2AC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46948-655C-44B2-8AA8-5BAA6B9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43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classes de otimização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26B89-771A-4CAD-9510-D724C9AF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43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comportamento preservado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00D49-6DBD-49CB-B956-0173B9A9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>
            <a:def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65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365D"/>
                </a:solidFill>
                <a:latin typeface="Consolas"/>
                <a:ea typeface="Consolas"/>
                <a:cs typeface="Consolas"/>
              </a:rPr>
              <a:t>Comando reprodutível: python -m unittest discover -s tests -v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6D178-16E4-43EA-95E2-43D11FBA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550A8-1CBA-4559-97C8-91B0EAC6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263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B1AA-48AF-467E-B40C-3061A511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84EB3-98DD-467C-8BDD-39E1692A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7B8"/>
          </a:solidFill>
          <a:ln xmlns:a="http://schemas.openxmlformats.org/drawingml/2006/main" w="0">
            <a:solidFill>
              <a:srgbClr val="27C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872F2-D448-432E-AAD4-47CC1FE2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14074-4D06-4E32-BF8B-5ACDA41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621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Executar arena.gl e disparar a colisão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B51CE-5D63-492D-BBB1-D9D4F6A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C4235-2195-4F0E-9568-AB552C4C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Mostrar AST e IR em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D70A1-0660-4BD3-9380-7F4494FD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5E75A-DA2B-474C-8AB1-EDE1C02E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242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Gerar Python e comparar o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8D74D-D449-41B7-9CD8-DEC77840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7C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C7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56543-18AB-416F-A46B-32C3180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Exibir uma entrada inválida e otimizar o exemplo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2FA26-1541-43D9-AF42-AF78A5A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85900"/>
            <a:ext cx="35242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0B6C2-65C1-4660-853A-AD3C8D9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LIMITES DECLARADOS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AA716-7F9E-4CD5-9940-837DF778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2952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8F5"/>
                </a:solidFill>
                <a:latin typeface="Arial"/>
                <a:ea typeface="Arial"/>
                <a:cs typeface="Arial"/>
              </a:rPr>
              <a:t>Sem gráficos ou física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8F5"/>
                </a:solidFill>
                <a:latin typeface="Arial"/>
                <a:ea typeface="Arial"/>
                <a:cs typeface="Arial"/>
              </a:rPr>
              <a:t>Colisões informadas ao runtime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8F5"/>
                </a:solidFill>
                <a:latin typeface="Arial"/>
                <a:ea typeface="Arial"/>
                <a:cs typeface="Arial"/>
              </a:rPr>
              <a:t>Sem funções ou condicionais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DDE8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8F5"/>
                </a:solidFill>
                <a:latin typeface="Arial"/>
                <a:ea typeface="Arial"/>
                <a:cs typeface="Arial"/>
              </a:rPr>
              <a:t>Python gerado usa o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02846-42E5-44FE-BE80-133771A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>
            <a:def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8F3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F3EA"/>
                </a:solidFill>
                <a:latin typeface="Arial"/>
                <a:ea typeface="Arial"/>
                <a:cs typeface="Arial"/>
              </a:rPr>
              <a:t>GameLang entrega um compilador observável, testável e alinhado à especificação original.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B330F-53EC-4A5A-9871-04B6F878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B8CB"/>
                </a:solidFill>
                <a:latin typeface="Arial"/>
                <a:ea typeface="Arial"/>
                <a:cs typeface="Arial"/>
              </a:rPr>
              <a:t>GameLang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B1951-638A-433E-B1BB-AA1E332A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579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AB8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B8C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2754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2026-10-26T18:31:02.7470000Z</dcterms:created>
  <dcterms:modified xsi:type="dcterms:W3CDTF">2026-10-26T18:31:02.7470000Z</dcterms:modified>
</coreProperties>
</file>